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Homez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94560"/>
                </a:solidFill>
              </a:rPr>
              <a:t>Real Estate React NextJS Template Analysis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C757D"/>
                </a:solidFill>
              </a:rPr>
              <a:t>A comprehensive analysis of Homez - a modern designed real estate template for building professional property listing websites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274320"/>
            <a:ext cx="1371600" cy="3200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Premium Template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ThemeForest: item/47704622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0" y="4572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Analysis for RICCO Real Estate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is Homez?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Overview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3192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54480"/>
            <a:ext cx="73152" cy="7315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C757D"/>
                </a:solidFill>
              </a:rPr>
              <a:t>Description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5057"/>
                </a:solidFill>
              </a:rPr>
              <a:t>Homez is a premium Real Estate React NextJS Template that lets you run a realtor company, real estate agency, broker, agents and related businesses.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393192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377440"/>
            <a:ext cx="73152" cy="6400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231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C757D"/>
                </a:solidFill>
              </a:rPr>
              <a:t>Purpose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606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5057"/>
                </a:solidFill>
              </a:rPr>
              <a:t>A comprehensive solution for property listing, management, and real estate business operations with modern UI/UX design.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393192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3108960"/>
            <a:ext cx="73152" cy="6400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546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C757D"/>
                </a:solidFill>
              </a:rPr>
              <a:t>Marketplace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3337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5057"/>
                </a:solidFill>
              </a:rPr>
              <a:t>Available on ThemeForest as a premium commercial template with regular and extended license options.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Key Highlights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54880" y="1554480"/>
            <a:ext cx="39319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95057"/>
                </a:solidFill>
              </a:rPr>
              <a:t>Modern React NextJS architecture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95057"/>
                </a:solidFill>
              </a:rPr>
              <a:t>10 Home page variants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95057"/>
                </a:solidFill>
              </a:rPr>
              <a:t>15+ Property listing pages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95057"/>
                </a:solidFill>
              </a:rPr>
              <a:t>10 Property detail pages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95057"/>
                </a:solidFill>
              </a:rPr>
              <a:t>Comprehensive user dashboard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95057"/>
                </a:solidFill>
              </a:rPr>
              <a:t>Advanced search functionality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95057"/>
                </a:solidFill>
              </a:rPr>
              <a:t>Mobile-friendly responsive design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95057"/>
                </a:solidFill>
              </a:rPr>
              <a:t>360 Virtual tour support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95057"/>
                </a:solidFill>
              </a:rPr>
              <a:t>Mortgage calculator built-in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95057"/>
                </a:solidFill>
              </a:rPr>
              <a:t>Property comparison feature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Features (10 Items)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1148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41148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1. Mortgage Calculator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Built-in widget for calculating mortgage payments for properties with easy-to-use interface.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800600" y="1051560"/>
            <a:ext cx="41148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800600" y="1051560"/>
            <a:ext cx="41148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430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2. Compare Property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1371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Compare multiple properties against each other by features and parameters side-by-side.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828800"/>
            <a:ext cx="41148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1828800"/>
            <a:ext cx="41148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9202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3. Saved Properties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2148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Users can save and organize favorite properties to their account for later viewing.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00600" y="1828800"/>
            <a:ext cx="41148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800600" y="1828800"/>
            <a:ext cx="41148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19202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4. Page Statistics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2148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Property owners and agencies can view audience numbers on their listings.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606040"/>
            <a:ext cx="41148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2606040"/>
            <a:ext cx="41148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6974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5. Agencies &amp; Agents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2926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Register as agency, add agents and manage listings with role-based access.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00600" y="2606040"/>
            <a:ext cx="41148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800600" y="2606040"/>
            <a:ext cx="41148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26974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6. Mobile Friendly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2926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Retina ready and fully responsive design for all device types and screen sizes.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383280"/>
            <a:ext cx="41148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3383280"/>
            <a:ext cx="41148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4747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7. 360 Virtual Tour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3703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Immersive virtual property tours for enhanced user experience and engagement.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00600" y="3383280"/>
            <a:ext cx="41148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4800600" y="3383280"/>
            <a:ext cx="41148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4" name="Text 32"/>
          <p:cNvSpPr/>
          <p:nvPr/>
        </p:nvSpPr>
        <p:spPr>
          <a:xfrm>
            <a:off x="4892040" y="34747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8. Floor Plans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92040" y="3703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Upload and display detailed property floor plans with room dimensions.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4160520"/>
            <a:ext cx="41148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" y="4160520"/>
            <a:ext cx="41148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42519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9. Nearby Listings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" y="4480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Overview of nearby amenities including schools, stores, hospitals and more.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00600" y="4160520"/>
            <a:ext cx="41148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4800600" y="4160520"/>
            <a:ext cx="41148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2" name="Text 40"/>
          <p:cNvSpPr/>
          <p:nvPr/>
        </p:nvSpPr>
        <p:spPr>
          <a:xfrm>
            <a:off x="4892040" y="42519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10. Advanced Search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92040" y="4480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</a:rPr>
              <a:t>Powerful search with filters for location, price, type, amenities and more.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Home Page Variants (10 Versions)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Available Home Pages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1148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554480"/>
            <a:ext cx="228600" cy="22860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544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508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5057"/>
                </a:solidFill>
              </a:rPr>
              <a:t>Home 1 - Default layout with hero banner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41148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057400"/>
            <a:ext cx="228600" cy="22860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0574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20116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5057"/>
                </a:solidFill>
              </a:rPr>
              <a:t>Home 2 - Alternative hero design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41148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2560320"/>
            <a:ext cx="228600" cy="22860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5603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" y="2514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5057"/>
                </a:solidFill>
              </a:rPr>
              <a:t>Home 3 - Modern property focus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41148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063240"/>
            <a:ext cx="228600" cy="22860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0632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4400" y="30175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5057"/>
                </a:solidFill>
              </a:rPr>
              <a:t>Home 4 - Agent-focused design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41148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3566160"/>
            <a:ext cx="228600" cy="22860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5661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14400" y="3520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5057"/>
                </a:solidFill>
              </a:rPr>
              <a:t>Home 5 - Agency showcase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More Variants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54880" y="1463040"/>
            <a:ext cx="39319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4846320" y="1554480"/>
            <a:ext cx="228600" cy="22860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15544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212080" y="15087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5057"/>
                </a:solidFill>
              </a:rPr>
              <a:t>Home 6 - Minimal design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1965960"/>
            <a:ext cx="39319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4846320" y="2057400"/>
            <a:ext cx="228600" cy="22860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20574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212080" y="20116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5057"/>
                </a:solidFill>
              </a:rPr>
              <a:t>Home 7 - Featured listings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468880"/>
            <a:ext cx="39319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4846320" y="2560320"/>
            <a:ext cx="228600" cy="22860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25603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212080" y="25146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5057"/>
                </a:solidFill>
              </a:rPr>
              <a:t>Home 8 - Map integration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2971800"/>
            <a:ext cx="39319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4846320" y="3063240"/>
            <a:ext cx="228600" cy="22860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40" name="Text 38"/>
          <p:cNvSpPr/>
          <p:nvPr/>
        </p:nvSpPr>
        <p:spPr>
          <a:xfrm>
            <a:off x="4846320" y="30632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9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212080" y="30175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5057"/>
                </a:solidFill>
              </a:rPr>
              <a:t>Home 9 - Video hero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3474720"/>
            <a:ext cx="39319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4846320" y="3566160"/>
            <a:ext cx="228600" cy="22860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44" name="Text 42"/>
          <p:cNvSpPr/>
          <p:nvPr/>
        </p:nvSpPr>
        <p:spPr>
          <a:xfrm>
            <a:off x="4846320" y="35661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212080" y="3520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5057"/>
                </a:solidFill>
              </a:rPr>
              <a:t>Home 10 - Full-width design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54880" y="4023360"/>
            <a:ext cx="3931920" cy="548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7" name="Text 45"/>
          <p:cNvSpPr/>
          <p:nvPr/>
        </p:nvSpPr>
        <p:spPr>
          <a:xfrm>
            <a:off x="4846320" y="40690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All home pages come with ready-to-use designs that can be installed with a single click. Mix and match elements from different layouts.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Property Pages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List Pages (15+ Variants)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95057"/>
                </a:solidFill>
              </a:rPr>
              <a:t>Grid Default - Standard grid layout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95057"/>
                </a:solidFill>
              </a:rPr>
              <a:t>List V1 - List view layout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95057"/>
                </a:solidFill>
              </a:rPr>
              <a:t>Grid Full 2/3/4 Col - Multiple columns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95057"/>
                </a:solidFill>
              </a:rPr>
              <a:t>Grid Full 1 Col V1/V2 - Single column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95057"/>
                </a:solidFill>
              </a:rPr>
              <a:t>Map V1-V4 - Map-based listings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95057"/>
                </a:solidFill>
              </a:rPr>
              <a:t>Banner Search - Banner with search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3383280"/>
            <a:ext cx="18288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474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4560"/>
                </a:solidFill>
              </a:rPr>
              <a:t>+15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Property List Pages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0" y="10515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Detail Pages (10 Variants)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137160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95057"/>
                </a:solidFill>
              </a:rPr>
              <a:t>Single V1 - Standard property detail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95057"/>
                </a:solidFill>
              </a:rPr>
              <a:t>Single V2 - Gallery focused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95057"/>
                </a:solidFill>
              </a:rPr>
              <a:t>Single V3 - Map sidebar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95057"/>
                </a:solidFill>
              </a:rPr>
              <a:t>Single V4 - Virtual tour highlight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95057"/>
                </a:solidFill>
              </a:rPr>
              <a:t>Single V5 - Floor plan showcase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95057"/>
                </a:solidFill>
              </a:rPr>
              <a:t>Single V6-V10 - Various modern layouts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3383280"/>
            <a:ext cx="18288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3474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4560"/>
                </a:solidFill>
              </a:rPr>
              <a:t>+10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54880" y="3931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Property Detail Pages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User Dashboard Features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Dashboard Capabilities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57200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Property Management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2103120" cy="2286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737360"/>
            <a:ext cx="36576" cy="2286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7373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95057"/>
                </a:solidFill>
              </a:rPr>
              <a:t>Submit Properties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0" y="1737360"/>
            <a:ext cx="2103120" cy="2286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0" y="1737360"/>
            <a:ext cx="36576" cy="2286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2" name="Text 10"/>
          <p:cNvSpPr/>
          <p:nvPr/>
        </p:nvSpPr>
        <p:spPr>
          <a:xfrm>
            <a:off x="2816352" y="17373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95057"/>
                </a:solidFill>
              </a:rPr>
              <a:t>Manage Properties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48640" y="1993392"/>
            <a:ext cx="2103120" cy="2286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1993392"/>
            <a:ext cx="36576" cy="2286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199339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95057"/>
                </a:solidFill>
              </a:rPr>
              <a:t>Edit Listings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0" y="1993392"/>
            <a:ext cx="2103120" cy="2286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0" y="1993392"/>
            <a:ext cx="36576" cy="2286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8" name="Text 16"/>
          <p:cNvSpPr/>
          <p:nvPr/>
        </p:nvSpPr>
        <p:spPr>
          <a:xfrm>
            <a:off x="2816352" y="199339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95057"/>
                </a:solidFill>
              </a:rPr>
              <a:t>Delete Listings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2377440"/>
            <a:ext cx="457200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42316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User Features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2697480"/>
            <a:ext cx="2103120" cy="2286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2697480"/>
            <a:ext cx="36576" cy="2286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" y="26974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95057"/>
                </a:solidFill>
              </a:rPr>
              <a:t>User Profiles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0" y="2697480"/>
            <a:ext cx="2103120" cy="2286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0" y="2697480"/>
            <a:ext cx="36576" cy="2286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6" name="Text 24"/>
          <p:cNvSpPr/>
          <p:nvPr/>
        </p:nvSpPr>
        <p:spPr>
          <a:xfrm>
            <a:off x="2816352" y="26974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95057"/>
                </a:solidFill>
              </a:rPr>
              <a:t>Manage Agents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48640" y="2953512"/>
            <a:ext cx="2103120" cy="2286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2953512"/>
            <a:ext cx="36576" cy="2286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" y="295351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95057"/>
                </a:solidFill>
              </a:rPr>
              <a:t>Manage Agencies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743200" y="2953512"/>
            <a:ext cx="2103120" cy="2286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1" name="Shape 29"/>
          <p:cNvSpPr/>
          <p:nvPr/>
        </p:nvSpPr>
        <p:spPr>
          <a:xfrm>
            <a:off x="2743200" y="2953512"/>
            <a:ext cx="36576" cy="2286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2" name="Text 30"/>
          <p:cNvSpPr/>
          <p:nvPr/>
        </p:nvSpPr>
        <p:spPr>
          <a:xfrm>
            <a:off x="2816352" y="295351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95057"/>
                </a:solidFill>
              </a:rPr>
              <a:t>Saved Searches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" y="3337560"/>
            <a:ext cx="457200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33832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Communication &amp; Payments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3657600"/>
            <a:ext cx="2103120" cy="2286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6" name="Shape 34"/>
          <p:cNvSpPr/>
          <p:nvPr/>
        </p:nvSpPr>
        <p:spPr>
          <a:xfrm>
            <a:off x="548640" y="3657600"/>
            <a:ext cx="36576" cy="2286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7" name="Text 35"/>
          <p:cNvSpPr/>
          <p:nvPr/>
        </p:nvSpPr>
        <p:spPr>
          <a:xfrm>
            <a:off x="621792" y="36576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95057"/>
                </a:solidFill>
              </a:rPr>
              <a:t>Payment Integration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743200" y="3657600"/>
            <a:ext cx="2103120" cy="2286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9" name="Shape 37"/>
          <p:cNvSpPr/>
          <p:nvPr/>
        </p:nvSpPr>
        <p:spPr>
          <a:xfrm>
            <a:off x="2743200" y="3657600"/>
            <a:ext cx="36576" cy="2286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0" name="Text 38"/>
          <p:cNvSpPr/>
          <p:nvPr/>
        </p:nvSpPr>
        <p:spPr>
          <a:xfrm>
            <a:off x="2816352" y="36576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95057"/>
                </a:solidFill>
              </a:rPr>
              <a:t>Membership System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48640" y="3913632"/>
            <a:ext cx="2103120" cy="2286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2" name="Shape 40"/>
          <p:cNvSpPr/>
          <p:nvPr/>
        </p:nvSpPr>
        <p:spPr>
          <a:xfrm>
            <a:off x="548640" y="3913632"/>
            <a:ext cx="36576" cy="2286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3" name="Text 41"/>
          <p:cNvSpPr/>
          <p:nvPr/>
        </p:nvSpPr>
        <p:spPr>
          <a:xfrm>
            <a:off x="621792" y="391363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95057"/>
                </a:solidFill>
              </a:rPr>
              <a:t>Private Message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743200" y="3913632"/>
            <a:ext cx="2103120" cy="2286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5" name="Shape 43"/>
          <p:cNvSpPr/>
          <p:nvPr/>
        </p:nvSpPr>
        <p:spPr>
          <a:xfrm>
            <a:off x="2743200" y="3913632"/>
            <a:ext cx="36576" cy="2286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6" name="Text 44"/>
          <p:cNvSpPr/>
          <p:nvPr/>
        </p:nvSpPr>
        <p:spPr>
          <a:xfrm>
            <a:off x="2816352" y="391363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95057"/>
                </a:solidFill>
              </a:rPr>
              <a:t>Reviews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212080" y="1051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Dashboard Sections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212080" y="137160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95057"/>
                </a:solidFill>
              </a:rPr>
              <a:t>Dashboard Home - Statistics overview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95057"/>
                </a:solidFill>
              </a:rPr>
              <a:t>Properties List - All listings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95057"/>
                </a:solidFill>
              </a:rPr>
              <a:t>Add Property - New listing form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95057"/>
                </a:solidFill>
              </a:rPr>
              <a:t>Profile - User settings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95057"/>
                </a:solidFill>
              </a:rPr>
              <a:t>Membership - Subscription plans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95057"/>
                </a:solidFill>
              </a:rPr>
              <a:t>Messages - Private messaging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95057"/>
                </a:solidFill>
              </a:rPr>
              <a:t>Reviews - Property feedback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95057"/>
                </a:solidFill>
              </a:rPr>
              <a:t>Favorites - Saved properties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95057"/>
                </a:solidFill>
              </a:rPr>
              <a:t>Saved Searches - Search history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95057"/>
                </a:solidFill>
              </a:rPr>
              <a:t>Account Settings - Preferences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Tech Stack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Frontend Technologies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490472"/>
            <a:ext cx="411480" cy="3657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9047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NX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51560" y="14630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Next.js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51560" y="169164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React framework with App Router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41148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084832"/>
            <a:ext cx="411480" cy="3657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8483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51560" y="20574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TypeScript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51560" y="228600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Type-safe JavaScript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2606040"/>
            <a:ext cx="41148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2679192"/>
            <a:ext cx="411480" cy="3657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67919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51560" y="26517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Bootstrap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51560" y="288036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Responsive CSS framework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41148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273552"/>
            <a:ext cx="411480" cy="3657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27355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51560" y="32461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SCSS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1560" y="347472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CSS preprocessor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3794760"/>
            <a:ext cx="41148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3867912"/>
            <a:ext cx="411480" cy="3657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86791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WOW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51560" y="38404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WOW.js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51560" y="406908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Scroll reveal animations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54880" y="1051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Libraries &amp; Tools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54880" y="1417320"/>
            <a:ext cx="39319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4846320" y="1490472"/>
            <a:ext cx="411480" cy="3657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149047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49240" y="14630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Slick Carousel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49240" y="169164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Image sliders and carousels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754880" y="2011680"/>
            <a:ext cx="39319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4846320" y="2084832"/>
            <a:ext cx="411480" cy="3657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208483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349240" y="20574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DM Sans Font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349240" y="228600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Modern Google Font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754880" y="2606040"/>
            <a:ext cx="39319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4846320" y="2679192"/>
            <a:ext cx="411480" cy="3657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3" name="Text 41"/>
          <p:cNvSpPr/>
          <p:nvPr/>
        </p:nvSpPr>
        <p:spPr>
          <a:xfrm>
            <a:off x="4846320" y="267919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RD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349240" y="26517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React DOM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349240" y="288036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React rendering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754880" y="3200400"/>
            <a:ext cx="39319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Shape 45"/>
          <p:cNvSpPr/>
          <p:nvPr/>
        </p:nvSpPr>
        <p:spPr>
          <a:xfrm>
            <a:off x="4846320" y="3273552"/>
            <a:ext cx="411480" cy="3657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8" name="Text 46"/>
          <p:cNvSpPr/>
          <p:nvPr/>
        </p:nvSpPr>
        <p:spPr>
          <a:xfrm>
            <a:off x="4846320" y="327355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RW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349240" y="32461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React Widgets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349240" y="34747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UI components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754880" y="3794760"/>
            <a:ext cx="39319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hape 50"/>
          <p:cNvSpPr/>
          <p:nvPr/>
        </p:nvSpPr>
        <p:spPr>
          <a:xfrm>
            <a:off x="4846320" y="3867912"/>
            <a:ext cx="411480" cy="3657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3" name="Text 51"/>
          <p:cNvSpPr/>
          <p:nvPr/>
        </p:nvSpPr>
        <p:spPr>
          <a:xfrm>
            <a:off x="4846320" y="386791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MP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349240" y="38404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Map Integration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349240" y="40690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Google Maps / Mapbox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Screenshots</a:t>
            </a:r>
            <a:endParaRPr lang="en-US" sz="2400" dirty="0"/>
          </a:p>
        </p:txBody>
      </p:sp>
      <p:pic>
        <p:nvPicPr>
          <p:cNvPr id="4" name="Image 0" descr="/home/z/my-project/ecosystem/web/homez-app/images/home1-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2743200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429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95057"/>
                </a:solidFill>
              </a:rPr>
              <a:t>Home Page Demo</a:t>
            </a:r>
            <a:endParaRPr lang="en-US" sz="1000" dirty="0"/>
          </a:p>
        </p:txBody>
      </p:sp>
      <p:pic>
        <p:nvPicPr>
          <p:cNvPr id="6" name="Image 1" descr="/home/z/my-project/ecosystem/web/homez-app/images/homep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097280"/>
            <a:ext cx="2743200" cy="2286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91840" y="3429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95057"/>
                </a:solidFill>
              </a:rPr>
              <a:t>Homepage Design</a:t>
            </a:r>
            <a:endParaRPr lang="en-US" sz="1000" dirty="0"/>
          </a:p>
        </p:txBody>
      </p:sp>
      <p:pic>
        <p:nvPicPr>
          <p:cNvPr id="8" name="Image 2" descr="/home/z/my-project/ecosystem/web/homez-app/images/demos-p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97280"/>
            <a:ext cx="2743200" cy="22860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126480" y="3429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95057"/>
                </a:solidFill>
              </a:rPr>
              <a:t>Demos Overview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Recommendations for RICCO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Features to Implement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54864" cy="5029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173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Mortgage Calculator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64592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Essential for Pakistani real estate market with PKR currency support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41148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965960"/>
            <a:ext cx="54864" cy="5029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0116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Property Comparison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24028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Help buyers make informed decisions by comparing properties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41148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560320"/>
            <a:ext cx="54864" cy="5029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6060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Saved Properties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283464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User engagement feature for returning visitors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41148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154680"/>
            <a:ext cx="54864" cy="5029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2004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Advanced Search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" y="342900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Location-based filtering for Pakistani cities and areas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41148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3749040"/>
            <a:ext cx="54864" cy="5029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7947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Agent Profiles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" y="402336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Build trust with local agents and agencies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54880" y="1051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Adaptations Needed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1371600"/>
            <a:ext cx="3931920" cy="10972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14173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</a:rPr>
              <a:t>Localization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16916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Currency: PKR (Pakistani Rupee)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Language: Urdu + English support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Locations: Pakistani cities, areas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Payments: JazzCash, EasyPaisa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0" y="26060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Best Practices from Homez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2926080"/>
            <a:ext cx="39319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4754880" y="2926080"/>
            <a:ext cx="54864" cy="4114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29443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Clean Modern UI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92040" y="312724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Professional design that builds trust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754880" y="3429000"/>
            <a:ext cx="39319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4754880" y="3429000"/>
            <a:ext cx="54864" cy="4114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6" name="Text 34"/>
          <p:cNvSpPr/>
          <p:nvPr/>
        </p:nvSpPr>
        <p:spPr>
          <a:xfrm>
            <a:off x="4892040" y="344728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Comprehensive Details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92040" y="363016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Property pages with all necessary information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754880" y="3931920"/>
            <a:ext cx="39319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4754880" y="3931920"/>
            <a:ext cx="54864" cy="4114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0" name="Text 38"/>
          <p:cNvSpPr/>
          <p:nvPr/>
        </p:nvSpPr>
        <p:spPr>
          <a:xfrm>
            <a:off x="4892040" y="395020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Multiple Layouts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92040" y="413308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Flexibility for different property types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Conclusion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Homez provides </a:t>
            </a:r>
            <a:pPr algn="ctr" indent="0" marL="0">
              <a:buNone/>
            </a:pPr>
            <a:r>
              <a:rPr lang="en-US" sz="1200" b="1" dirty="0">
                <a:solidFill>
                  <a:srgbClr val="E94560"/>
                </a:solidFill>
              </a:rPr>
              <a:t>modern design patterns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, advanced features like mortgage calculator, property comparison, and virtual tours that can be adapted for the Pakistani real estate market.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For RICCO Real Estate, combining Homez design patterns with a custom backend will create a </a:t>
            </a:r>
            <a:pPr algn="ctr" indent="0" marL="0">
              <a:buNone/>
            </a:pPr>
            <a:r>
              <a:rPr lang="en-US" sz="1200" b="1" dirty="0">
                <a:solidFill>
                  <a:srgbClr val="E94560"/>
                </a:solidFill>
              </a:rPr>
              <a:t>complete solution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 tailored to local market needs.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Analysis completed for RICCO Real Estate Project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Homez - Real Estate React NextJS Template Analysis</dc:title>
  <dc:subject>Template Analysis for RICCO Real Estate Implementation</dc:subject>
  <dc:creator>RICCO Real Estate</dc:creator>
  <cp:lastModifiedBy>RICCO Real Estate</cp:lastModifiedBy>
  <cp:revision>1</cp:revision>
  <dcterms:created xsi:type="dcterms:W3CDTF">2026-04-04T20:19:56Z</dcterms:created>
  <dcterms:modified xsi:type="dcterms:W3CDTF">2026-04-04T20:19:56Z</dcterms:modified>
</cp:coreProperties>
</file>